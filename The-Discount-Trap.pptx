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2580977"/>
            <a:ext cx="6179784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Discount Trap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91898" y="3403798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Uncovering Hidden Profit Leaks in Retail Data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898" y="3964384"/>
            <a:ext cx="2051792" cy="312638"/>
          </a:xfrm>
          <a:prstGeom prst="roundRect">
            <a:avLst>
              <a:gd name="adj" fmla="val 22111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5323" y="4026098"/>
            <a:ext cx="2414527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ANALYTICS CASE STUDY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711498"/>
            <a:ext cx="6179784" cy="1028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Problem: Revenue Up, Profit Stagnant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91898" y="2048570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Revenue grew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18–27% YoY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yet profit margin held flat at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11–12%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Leadership had strong suspicions but no clear diagnosis.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898" y="2938363"/>
            <a:ext cx="2987005" cy="1830387"/>
          </a:xfrm>
          <a:prstGeom prst="roundRect">
            <a:avLst>
              <a:gd name="adj" fmla="val 4721"/>
            </a:avLst>
          </a:prstGeom>
          <a:solidFill>
            <a:srgbClr val="F7F7F7"/>
          </a:solidFill>
          <a:ln w="25399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22973" y="3169444"/>
            <a:ext cx="25248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Underperforming Regions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22973" y="3550047"/>
            <a:ext cx="2524856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Which markets were eroding margins despite strong top-line growth?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84578" y="2938363"/>
            <a:ext cx="2987104" cy="1830387"/>
          </a:xfrm>
          <a:prstGeom prst="roundRect">
            <a:avLst>
              <a:gd name="adj" fmla="val 4721"/>
            </a:avLst>
          </a:prstGeom>
          <a:solidFill>
            <a:srgbClr val="F7F7F7"/>
          </a:solidFill>
          <a:ln w="25399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15653" y="3169444"/>
            <a:ext cx="252495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Loss-Making Products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15653" y="3550047"/>
            <a:ext cx="2524955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Were specific SKUs or categories dragging down overall profitability?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91898" y="4974431"/>
            <a:ext cx="6179784" cy="1171972"/>
          </a:xfrm>
          <a:prstGeom prst="roundRect">
            <a:avLst>
              <a:gd name="adj" fmla="val 7373"/>
            </a:avLst>
          </a:prstGeom>
          <a:solidFill>
            <a:srgbClr val="F7F7F7"/>
          </a:solidFill>
          <a:ln w="25399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22973" y="5205512"/>
            <a:ext cx="571763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Excessive Discounting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22973" y="5586115"/>
            <a:ext cx="571763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Was aggressive promotion driving volume — or simply destroying margin?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25289"/>
            <a:ext cx="1075167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Analytical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20012" y="1490365"/>
            <a:ext cx="1136125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structured three-phase methodology addressed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 business questions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through ~50 SQL queries, transforming raw transactional data into executive-ready insights.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389" y="1937544"/>
            <a:ext cx="6314818" cy="3747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3608" y="4846405"/>
            <a:ext cx="1569732" cy="241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55314" y="4846405"/>
            <a:ext cx="1569732" cy="241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Root-Cause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344767" y="4846405"/>
            <a:ext cx="1569732" cy="241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Prep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0012" y="5862737"/>
            <a:ext cx="1136125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Each phase built on the last — from raw data to root causes to boardroom-ready visualizations.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41685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Finding 1: Revenue Growth ≠ Profit Growth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995884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70187"/>
            <a:ext cx="51249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Core Disconnect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53115" y="2433042"/>
            <a:ext cx="5124917" cy="183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Revenue climbed steadily year-over-year, yet profit margin oscillated between 11% and 12% — never improving despite significant growth.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High-revenue regions were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synonymous with high-profit regions. Scale was masking structural margin erosion beneath the surface.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53115" y="4495602"/>
            <a:ext cx="5124917" cy="1131491"/>
          </a:xfrm>
          <a:prstGeom prst="roundRect">
            <a:avLst>
              <a:gd name="adj" fmla="val 7637"/>
            </a:avLst>
          </a:prstGeom>
          <a:solidFill>
            <a:srgbClr val="E6E6E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91" y="4807645"/>
            <a:ext cx="2571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21634" y="4732139"/>
            <a:ext cx="425072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Top-line growth without margin discipline is a warning signal — not a success story.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41685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Finding 2: Southeast Asia — The Discount Trap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995884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70187"/>
            <a:ext cx="51249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2% Profit Margin — and No Volume Reward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53115" y="2433042"/>
            <a:ext cx="5124917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Discounts reached up to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57%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in Southeast Asia, yet order volume remained completely flat as discounts increased. There was zero demand elasticity — customers weren't buying more; the business was simply giving away margin.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53115" y="3935016"/>
            <a:ext cx="5124917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Profit margin: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2%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(lowest of all regions)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Max discount depth: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57%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Order volume response: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None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9416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Finding 3: EMEA — Shipping Mode Is the Silent Killer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623616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597918"/>
            <a:ext cx="51249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606 Orders Turned Loss-Making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53115" y="2060773"/>
            <a:ext cx="5124917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EMEA's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5.45% margin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wasn't driven by discounting — it was driven by shipping mode selection. Same Day and First Class shipping converted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606 orders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into net losses, while Standard Class remained profitable.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53115" y="3562747"/>
            <a:ext cx="5124917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Same Day: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312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loss-making orders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First Class: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294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loss-making orders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Standard Class: only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48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losses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53115" y="4925616"/>
            <a:ext cx="5124917" cy="1131491"/>
          </a:xfrm>
          <a:prstGeom prst="roundRect">
            <a:avLst>
              <a:gd name="adj" fmla="val 7637"/>
            </a:avLst>
          </a:prstGeom>
          <a:solidFill>
            <a:srgbClr val="E6E6E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91" y="5237659"/>
            <a:ext cx="257169" cy="205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21634" y="5162153"/>
            <a:ext cx="425072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Shipping cost policy — not pricing — is the primary margin lever in EMEA.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41685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Finding 4: Products Bleeding Red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995884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70187"/>
            <a:ext cx="51249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One Sub-Category. $64K in Losses.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53115" y="2433042"/>
            <a:ext cx="512491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Tables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sub-category within Furniture alone generated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$64K net loss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Company-wide,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181 products (18% of all SKUs)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were losing money — collectively eroding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$234K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from annual profitability.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53115" y="3605808"/>
            <a:ext cx="5124917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Tables sub-category loss: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$64K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Loss-making SKUs: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181 products (18%)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Total product-level loss: 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$234K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627559"/>
            <a:ext cx="6179784" cy="345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Recommendations: Four High-Impact Levers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5291898" y="1112341"/>
            <a:ext cx="6179784" cy="1209873"/>
          </a:xfrm>
          <a:prstGeom prst="roundRect">
            <a:avLst>
              <a:gd name="adj" fmla="val 4799"/>
            </a:avLst>
          </a:prstGeom>
          <a:solidFill>
            <a:srgbClr val="E6E6E6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36456" y="1256903"/>
            <a:ext cx="414625" cy="414635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0456" y="1370905"/>
            <a:ext cx="186527" cy="1865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36456" y="1764407"/>
            <a:ext cx="589066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Cap Discounts at 20%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36456" y="1992809"/>
            <a:ext cx="5890668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Eliminate deep-discount promotions in Southeast Asia with no volume return.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291898" y="2415084"/>
            <a:ext cx="6179784" cy="1209873"/>
          </a:xfrm>
          <a:prstGeom prst="roundRect">
            <a:avLst>
              <a:gd name="adj" fmla="val 4799"/>
            </a:avLst>
          </a:prstGeom>
          <a:solidFill>
            <a:srgbClr val="E6E6E6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36456" y="2559645"/>
            <a:ext cx="414625" cy="414635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0456" y="2673648"/>
            <a:ext cx="186527" cy="1865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36456" y="3067149"/>
            <a:ext cx="589066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Mandate Standard Class in EMEA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436456" y="3295551"/>
            <a:ext cx="5890668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Default to Standard Class shipping; require approval for premium modes.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291898" y="3717826"/>
            <a:ext cx="6179784" cy="1209873"/>
          </a:xfrm>
          <a:prstGeom prst="roundRect">
            <a:avLst>
              <a:gd name="adj" fmla="val 4799"/>
            </a:avLst>
          </a:prstGeom>
          <a:solidFill>
            <a:srgbClr val="E6E6E6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36456" y="3862388"/>
            <a:ext cx="414625" cy="414635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50456" y="3976390"/>
            <a:ext cx="186527" cy="1865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36456" y="4369891"/>
            <a:ext cx="589066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Emergency SKU Review: Tables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436456" y="4598293"/>
            <a:ext cx="5890668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Audit all 181 loss-making SKUs — reprice, delist, or renegotiate supplier terms.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291898" y="5020568"/>
            <a:ext cx="6179784" cy="1209873"/>
          </a:xfrm>
          <a:prstGeom prst="roundRect">
            <a:avLst>
              <a:gd name="adj" fmla="val 4799"/>
            </a:avLst>
          </a:prstGeom>
          <a:solidFill>
            <a:srgbClr val="E6E6E6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436456" y="5165130"/>
            <a:ext cx="414625" cy="414635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50456" y="5279132"/>
            <a:ext cx="186527" cy="18653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36456" y="5672634"/>
            <a:ext cx="589066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Replicate the Canada Model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436456" y="5901035"/>
            <a:ext cx="5890668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Canada's </a:t>
            </a:r>
            <a:pPr algn="l" indent="0" marL="0">
              <a:lnSpc>
                <a:spcPct val="111000"/>
              </a:lnSpc>
              <a:buNone/>
            </a:pPr>
            <a:r>
              <a:rPr lang="en-US" sz="10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26.6% margin</a:t>
            </a:r>
            <a:pPr algn="l" indent="0" marL="0">
              <a:lnSpc>
                <a:spcPct val="11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is the blueprint — codify and scale its playbook globally.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20216"/>
            <a:ext cx="10751670" cy="409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Dashboard Preview: From Data to Decision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20012" y="1291332"/>
            <a:ext cx="1075167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Three Power BI pages translate findings into an interactive executive narrative — enabling self-serve exploration from enterprise overview to regional and product-level drill-downs.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62" y="2015728"/>
            <a:ext cx="5306483" cy="196730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910" y="2015728"/>
            <a:ext cx="5301522" cy="196730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62" y="4114105"/>
            <a:ext cx="10738970" cy="1967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580926"/>
            <a:ext cx="6179784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Takeaway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018951" y="1586012"/>
            <a:ext cx="5880846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Growth without margin discipline erodes profitability. The right data-driven policy changes can recover </a:t>
            </a:r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$150K+ annually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without sacrificing a single dollar of revenue.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20012" y="1368822"/>
            <a:ext cx="25399" cy="1376164"/>
          </a:xfrm>
          <a:prstGeom prst="roundRect">
            <a:avLst>
              <a:gd name="adj" fmla="val 50001"/>
            </a:avLst>
          </a:prstGeom>
          <a:solidFill>
            <a:srgbClr val="CCCCCC"/>
          </a:solidFill>
          <a:ln/>
        </p:spPr>
      </p:sp>
      <p:sp>
        <p:nvSpPr>
          <p:cNvPr id="6" name="Shape 3"/>
          <p:cNvSpPr/>
          <p:nvPr/>
        </p:nvSpPr>
        <p:spPr>
          <a:xfrm>
            <a:off x="720012" y="2962176"/>
            <a:ext cx="2993355" cy="1717873"/>
          </a:xfrm>
          <a:prstGeom prst="roundRect">
            <a:avLst>
              <a:gd name="adj" fmla="val 4873"/>
            </a:avLst>
          </a:prstGeom>
          <a:solidFill>
            <a:srgbClr val="2C3E50"/>
          </a:solidFill>
          <a:ln w="6350">
            <a:solidFill>
              <a:srgbClr val="4557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5589" y="3167757"/>
            <a:ext cx="25822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Diagnose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25589" y="3532684"/>
            <a:ext cx="2582203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Revenue growth masked structural margin leaks across regions, shipping, and products.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906442" y="2962176"/>
            <a:ext cx="2993355" cy="1717873"/>
          </a:xfrm>
          <a:prstGeom prst="roundRect">
            <a:avLst>
              <a:gd name="adj" fmla="val 4873"/>
            </a:avLst>
          </a:prstGeom>
          <a:solidFill>
            <a:srgbClr val="2C3E50"/>
          </a:solidFill>
          <a:ln w="6350">
            <a:solidFill>
              <a:srgbClr val="4557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2018" y="3167757"/>
            <a:ext cx="258220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Prescribe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112018" y="3532684"/>
            <a:ext cx="2582203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Targeted policy changes — discount caps, shipping mandates, SKU reviews — address root causes.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20012" y="4873129"/>
            <a:ext cx="6179784" cy="1403945"/>
          </a:xfrm>
          <a:prstGeom prst="roundRect">
            <a:avLst>
              <a:gd name="adj" fmla="val 5962"/>
            </a:avLst>
          </a:prstGeom>
          <a:solidFill>
            <a:srgbClr val="2C3E50"/>
          </a:solidFill>
          <a:ln w="6350">
            <a:solidFill>
              <a:srgbClr val="4557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5589" y="5078710"/>
            <a:ext cx="5768632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Recover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925589" y="5443637"/>
            <a:ext cx="5768632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$150K+ in annual profit recovery is achievable without reducing top-line revenue.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2026-09-02T16:58:06Z</dcterms:created>
  <dcterms:modified xsi:type="dcterms:W3CDTF">2026-09-02T16:58:06Z</dcterms:modified>
</cp:coreProperties>
</file>